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0"/>
            <a:ext cx="4663440" cy="685800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731520"/>
            <a:ext cx="4114800" cy="411480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658368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Green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Trap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India's clean energy transition is replacing one import dependency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deeper, more concentrated, and harder-to-reverse 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Battery Intelligence Report v1.0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V Sivaram Poduri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983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Manager IS, NCC Limited  ·  MS Data Science, Scaler  ·  Oxford Business Analytics  ·  June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Supply Chain Signals  ·  indiasupplychainsignals.substack.com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V Sivaram Poduri  ·  India Supply Chain Signals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556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Battery Intelligence Report v1.0 ·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THIS PRESENTATION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Covers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50292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4721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Thesis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709928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not reducing import risk — it is performing a risk substitution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21992"/>
            <a:ext cx="50292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2311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Substitution Paradox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468880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dependency vs critical mineral dependency: 8 structural comparisons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50292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980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9900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Three-Layer Framework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22783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(mine) vs Layer 2 (refining) vs Layer 3 (equipment) — where the risk actually lives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739896"/>
            <a:ext cx="50292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39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7490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Battery Scores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986784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materials scored: 3 CRITICAL, 2 HIGH, 1 MEDIUM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498848"/>
            <a:ext cx="50292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498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5079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Dependency Map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745736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China, USA, Europe, Indonesia, Vietnam — EV growth vs supply exposure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5257800"/>
            <a:ext cx="50292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5266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Contagion Watch Signals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5504688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 signals to monitor weekly for early warning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The Central Thesis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556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Battery Intelligence Report v1.0 ·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THESIS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Substitution India Isn't Discussing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91440" cy="14630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463040"/>
            <a:ext cx="11338560" cy="1463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087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"India is not reducing import risk. It is performing a risk substitution — trading a visible, liquid, manageable commodity dependency for an invisible, concentrated, and structurally locked-in processing dependency. The supplier changes from Riyadh to Beijing. The leverage does not reduce. It disappears."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2560320" cy="118872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08960"/>
            <a:ext cx="64008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5760" y="36941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IMPORT BILL FY25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15+ countries, liquid market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017520" y="3108960"/>
            <a:ext cx="2560320" cy="118872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17520" y="3108960"/>
            <a:ext cx="64008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$53B+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108960" y="36941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 BILL 2030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3977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$23B + Solar $30B projected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760720" y="3108960"/>
            <a:ext cx="2560320" cy="118872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0" y="3108960"/>
            <a:ext cx="64008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852160" y="36941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Li REFINING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3977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5.9Mt J&amp;K reserves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503920" y="3108960"/>
            <a:ext cx="2560320" cy="118872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503920" y="3108960"/>
            <a:ext cx="64008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864108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595360" y="36941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LFP CATHODE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95360" y="3977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production capacity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74320" y="63093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accelerates operational logic. It does not create it." — India Supply Chain Signals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The Substitution Paradox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556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Battery Intelligence Report v1.0 ·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SUBSTITUTION PARADOX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Dependency vs Critical Mineral Dependency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444752"/>
            <a:ext cx="320040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447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444752"/>
            <a:ext cx="3657600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DEPENDENCY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223760" y="1444752"/>
            <a:ext cx="4663440" cy="29260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4447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MINERAL DEPENDENCY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755648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1755648"/>
            <a:ext cx="3657600" cy="530352"/>
          </a:xfrm>
          <a:prstGeom prst="rect">
            <a:avLst/>
          </a:prstGeom>
          <a:solidFill>
            <a:srgbClr val="EAF3D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755648"/>
            <a:ext cx="4663440" cy="530352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86537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count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1847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countries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69480" y="18470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country (China) controls processing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22576"/>
            <a:ext cx="3200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2322576"/>
            <a:ext cx="3657600" cy="530352"/>
          </a:xfrm>
          <a:prstGeom prst="rect">
            <a:avLst/>
          </a:prstGeom>
          <a:solidFill>
            <a:srgbClr val="EAF3D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2322576"/>
            <a:ext cx="4663440" cy="530352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43230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type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4140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Fungible crude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69480" y="241401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intermediates — not fungible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889504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0440" y="2889504"/>
            <a:ext cx="3657600" cy="530352"/>
          </a:xfrm>
          <a:prstGeom prst="rect">
            <a:avLst/>
          </a:prstGeom>
          <a:solidFill>
            <a:srgbClr val="EAF3D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2889504"/>
            <a:ext cx="4663440" cy="530352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9923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speed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66160" y="29809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change in weeks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69480" y="29809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processing: 5–10 years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456432"/>
            <a:ext cx="3200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0440" y="3456432"/>
            <a:ext cx="3657600" cy="530352"/>
          </a:xfrm>
          <a:prstGeom prst="rect">
            <a:avLst/>
          </a:prstGeom>
          <a:solidFill>
            <a:srgbClr val="EAF3D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3456432"/>
            <a:ext cx="4663440" cy="530352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5661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 policy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66160" y="3547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monthly in Parliament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69480" y="35478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battery BOM — invisible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023360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0440" y="4023360"/>
            <a:ext cx="3657600" cy="530352"/>
          </a:xfrm>
          <a:prstGeom prst="rect">
            <a:avLst/>
          </a:prstGeom>
          <a:solidFill>
            <a:srgbClr val="EAF3D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4023360"/>
            <a:ext cx="4663440" cy="530352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13308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leverage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66160" y="41148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largest buyer globally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9480" y="4114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taker — no refining = no leverage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590288"/>
            <a:ext cx="3200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4590288"/>
            <a:ext cx="3657600" cy="530352"/>
          </a:xfrm>
          <a:prstGeom prst="rect">
            <a:avLst/>
          </a:prstGeom>
          <a:solidFill>
            <a:srgbClr val="EAF3D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3760" y="4590288"/>
            <a:ext cx="4663440" cy="530352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70001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Weaponisation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566160" y="4681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liquid market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69480" y="46817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used export controls Oct 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The Three-Layer Risk Framework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556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Battery Intelligence Report v1.0 ·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THREE-LAYER DEPENDENCY STRUCTURE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Risk Actually Lives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731520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051560" y="1417320"/>
            <a:ext cx="10835640" cy="1417320"/>
          </a:xfrm>
          <a:prstGeom prst="rect">
            <a:avLst/>
          </a:prstGeom>
          <a:solidFill>
            <a:srgbClr val="FFF8E1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508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— Mine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180136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— Visible but misread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205740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has lithium. Indonesia has nickel. Geographically distributed. Most analysts stop here and feel reassured. This is the wrong layer to stop at.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95360" y="1600200"/>
            <a:ext cx="3246120" cy="10058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1673352"/>
            <a:ext cx="31546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see this and conclude: "India is managing mineral security"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731520" cy="14173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291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051560" y="2971800"/>
            <a:ext cx="10835640" cy="1417320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Refining — The Chokepoint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3558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 — The actual dependency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361188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China: 74% lithium refining, 80% cobalt, 91% polysilicon, 98% LFP cathode. India lithium refining: ZERO. This is where the supply chain is actually controlled.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95360" y="3154680"/>
            <a:ext cx="3246120" cy="10058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8641080" y="3227832"/>
            <a:ext cx="31546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 that cannot refine the ore does not control its supply chain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731520" cy="14173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46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051560" y="4526280"/>
            <a:ext cx="10835640" cy="1417320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617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Technology — The Lock-In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4910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 — Hardest to exit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" y="516636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 of battery cell manufacturing equipment is Chinese. Amara Raja licensed Gotion LFP tech. Exide licensed SVOLT tech. Even domestic factories depend on China.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95360" y="4709160"/>
            <a:ext cx="3246120" cy="10058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8641080" y="4782312"/>
            <a:ext cx="31546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export controls on equipment can terminate India's gigafactory ambitions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CIIP Battery Index Scores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556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Battery Intelligence Report v1.0 ·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BATTERY INDEX V1.0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Materials. Three CRITICAL. One Structural Blind Spot.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11612880" cy="32004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89888"/>
            <a:ext cx="109728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8988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(EV Demand × 0.35)  +  (Cross-Industry Competition × 0.40)  +  (Geopolitical Risk × 0.25)  ×  (10/3)    |    Basis: Leontief Input-Output Economics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11612880" cy="2926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7830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94560" y="17830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Demand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91840" y="17830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Cross-Ind.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89120" y="17830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Risk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0" y="1783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Score (bar)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0" y="17830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103120"/>
            <a:ext cx="1161288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396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4048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+ stainless steel + aerospace turbine blades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94560" y="22585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2585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22585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32120" y="2286000"/>
            <a:ext cx="3246120" cy="2286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6" name="Shape 24"/>
          <p:cNvSpPr/>
          <p:nvPr/>
        </p:nvSpPr>
        <p:spPr>
          <a:xfrm>
            <a:off x="5532120" y="2286000"/>
            <a:ext cx="3200400" cy="2286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8823960" y="2258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424160" y="2258568"/>
            <a:ext cx="1371600" cy="25603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0" y="22585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2761488"/>
            <a:ext cx="11612880" cy="594360"/>
          </a:xfrm>
          <a:prstGeom prst="rect">
            <a:avLst/>
          </a:prstGeom>
          <a:solidFill>
            <a:srgbClr val="F8F9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7980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30632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+ grid storage + consumer electronics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194560" y="29169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29169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0" y="29169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32120" y="2944368"/>
            <a:ext cx="3246120" cy="2286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7" name="Shape 35"/>
          <p:cNvSpPr/>
          <p:nvPr/>
        </p:nvSpPr>
        <p:spPr>
          <a:xfrm>
            <a:off x="5532120" y="2944368"/>
            <a:ext cx="2816352" cy="2286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8" name="Text 36"/>
          <p:cNvSpPr/>
          <p:nvPr/>
        </p:nvSpPr>
        <p:spPr>
          <a:xfrm>
            <a:off x="8823960" y="29169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424160" y="2916936"/>
            <a:ext cx="1371600" cy="25603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0" name="Text 38"/>
          <p:cNvSpPr/>
          <p:nvPr/>
        </p:nvSpPr>
        <p:spPr>
          <a:xfrm>
            <a:off x="10424160" y="2916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419856"/>
            <a:ext cx="1161288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Polysilicon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" y="37216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 + semiconductors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194560" y="3575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91840" y="3575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389120" y="3575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532120" y="3602736"/>
            <a:ext cx="3246120" cy="2286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8" name="Shape 46"/>
          <p:cNvSpPr/>
          <p:nvPr/>
        </p:nvSpPr>
        <p:spPr>
          <a:xfrm>
            <a:off x="5532120" y="3602736"/>
            <a:ext cx="2784348" cy="2286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9" name="Text 47"/>
          <p:cNvSpPr/>
          <p:nvPr/>
        </p:nvSpPr>
        <p:spPr>
          <a:xfrm>
            <a:off x="8823960" y="35753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424160" y="3575304"/>
            <a:ext cx="1371600" cy="25603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51" name="Text 49"/>
          <p:cNvSpPr/>
          <p:nvPr/>
        </p:nvSpPr>
        <p:spPr>
          <a:xfrm>
            <a:off x="10424160" y="35753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4078224"/>
            <a:ext cx="11612880" cy="594360"/>
          </a:xfrm>
          <a:prstGeom prst="rect">
            <a:avLst/>
          </a:prstGeom>
          <a:solidFill>
            <a:srgbClr val="F8F9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114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0040" y="43799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batteries + aerospace + defence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194560" y="4233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291840" y="4233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389120" y="4233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532120" y="4261104"/>
            <a:ext cx="3246120" cy="2286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9" name="Shape 57"/>
          <p:cNvSpPr/>
          <p:nvPr/>
        </p:nvSpPr>
        <p:spPr>
          <a:xfrm>
            <a:off x="5532120" y="4261104"/>
            <a:ext cx="2496312" cy="2286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0" name="Text 58"/>
          <p:cNvSpPr/>
          <p:nvPr/>
        </p:nvSpPr>
        <p:spPr>
          <a:xfrm>
            <a:off x="8823960" y="4233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0424160" y="4233672"/>
            <a:ext cx="1371600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2" name="Text 60"/>
          <p:cNvSpPr/>
          <p:nvPr/>
        </p:nvSpPr>
        <p:spPr>
          <a:xfrm>
            <a:off x="10424160" y="4233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74320" y="4736592"/>
            <a:ext cx="1161288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20040" y="50383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anode + steel + lubricants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19456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29184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3891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532120" y="4919472"/>
            <a:ext cx="3246120" cy="2286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0" name="Shape 68"/>
          <p:cNvSpPr/>
          <p:nvPr/>
        </p:nvSpPr>
        <p:spPr>
          <a:xfrm>
            <a:off x="5532120" y="4919472"/>
            <a:ext cx="2368296" cy="2286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1" name="Text 69"/>
          <p:cNvSpPr/>
          <p:nvPr/>
        </p:nvSpPr>
        <p:spPr>
          <a:xfrm>
            <a:off x="8823960" y="4892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10424160" y="4892040"/>
            <a:ext cx="1371600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3" name="Text 71"/>
          <p:cNvSpPr/>
          <p:nvPr/>
        </p:nvSpPr>
        <p:spPr>
          <a:xfrm>
            <a:off x="10424160" y="4892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4320" y="5394960"/>
            <a:ext cx="11612880" cy="594360"/>
          </a:xfrm>
          <a:prstGeom prst="rect">
            <a:avLst/>
          </a:prstGeom>
          <a:solidFill>
            <a:srgbClr val="F8F9FA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54315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Manganese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20040" y="56967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 batteries + steel alloys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194560" y="5550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3291840" y="5550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389120" y="5550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532120" y="5577840"/>
            <a:ext cx="3246120" cy="2286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81" name="Shape 79"/>
          <p:cNvSpPr/>
          <p:nvPr/>
        </p:nvSpPr>
        <p:spPr>
          <a:xfrm>
            <a:off x="5532120" y="5577840"/>
            <a:ext cx="1952244" cy="2286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2" name="Text 80"/>
          <p:cNvSpPr/>
          <p:nvPr/>
        </p:nvSpPr>
        <p:spPr>
          <a:xfrm>
            <a:off x="8823960" y="55504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10424160" y="5550408"/>
            <a:ext cx="137160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4" name="Text 82"/>
          <p:cNvSpPr/>
          <p:nvPr/>
        </p:nvSpPr>
        <p:spPr>
          <a:xfrm>
            <a:off x="10424160" y="5550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Country Dependency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556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Battery Intelligence Report v1.0 ·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DEPENDENCY MAP — EV GROWTH VS SUPPLY CHAIN EXPOSURE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Most Exposed — And Why India Is Different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2880360" cy="38404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14173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801368"/>
            <a:ext cx="288036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801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Share: 4% (2025)  ·  Growth: +45% YoY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2880360" cy="3108960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212848"/>
            <a:ext cx="73152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2128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Lithium: 68% China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871216"/>
            <a:ext cx="73152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871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Batteries: 85% China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529584"/>
            <a:ext cx="73152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5295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Polysilicon: 91% China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4187952"/>
            <a:ext cx="73152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41879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 refining: 0 domestic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1417320"/>
            <a:ext cx="288036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3319272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14173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1801368"/>
            <a:ext cx="288036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7" name="Text 25"/>
          <p:cNvSpPr/>
          <p:nvPr/>
        </p:nvSpPr>
        <p:spPr>
          <a:xfrm>
            <a:off x="3319272" y="1801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Share: 52% (2025)  ·  Growth: +18% YoY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46120" y="2148840"/>
            <a:ext cx="2880360" cy="3108960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9272" y="2212848"/>
            <a:ext cx="7315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3447288" y="22128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midstream globally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19272" y="2871216"/>
            <a:ext cx="7315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3447288" y="2871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from Indonesia/DRC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9272" y="3529584"/>
            <a:ext cx="7315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3447288" y="35295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Graphite: 85% domestic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19272" y="4187952"/>
            <a:ext cx="7315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6" name="Text 34"/>
          <p:cNvSpPr/>
          <p:nvPr/>
        </p:nvSpPr>
        <p:spPr>
          <a:xfrm>
            <a:off x="3447288" y="41879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LFP: 98% domestic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1417320"/>
            <a:ext cx="2880360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46720" y="14173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1801368"/>
            <a:ext cx="288036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1" name="Text 39"/>
          <p:cNvSpPr/>
          <p:nvPr/>
        </p:nvSpPr>
        <p:spPr>
          <a:xfrm>
            <a:off x="6291072" y="1801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Share: 10% (2025)  ·  Growth: -4% YoY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2148840"/>
            <a:ext cx="2880360" cy="3108960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91072" y="2212848"/>
            <a:ext cx="73152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4" name="Text 42"/>
          <p:cNvSpPr/>
          <p:nvPr/>
        </p:nvSpPr>
        <p:spPr>
          <a:xfrm>
            <a:off x="6419088" y="22128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Cobalt: 75% DRC via China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91072" y="2871216"/>
            <a:ext cx="73152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6" name="Text 44"/>
          <p:cNvSpPr/>
          <p:nvPr/>
        </p:nvSpPr>
        <p:spPr>
          <a:xfrm>
            <a:off x="6419088" y="2871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Graphite: 70% China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91072" y="3529584"/>
            <a:ext cx="7315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8" name="Text 46"/>
          <p:cNvSpPr/>
          <p:nvPr/>
        </p:nvSpPr>
        <p:spPr>
          <a:xfrm>
            <a:off x="6419088" y="35295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 re-shoring underway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91072" y="4187952"/>
            <a:ext cx="7315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0" name="Text 48"/>
          <p:cNvSpPr/>
          <p:nvPr/>
        </p:nvSpPr>
        <p:spPr>
          <a:xfrm>
            <a:off x="6419088" y="41879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cells: 65% Asia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189720" y="1417320"/>
            <a:ext cx="2880360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2" name="Text 50"/>
          <p:cNvSpPr/>
          <p:nvPr/>
        </p:nvSpPr>
        <p:spPr>
          <a:xfrm>
            <a:off x="9262872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1018520" y="14173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189720" y="1801368"/>
            <a:ext cx="288036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5" name="Text 53"/>
          <p:cNvSpPr/>
          <p:nvPr/>
        </p:nvSpPr>
        <p:spPr>
          <a:xfrm>
            <a:off x="9262872" y="1801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Share: 27% (2025)  ·  Growth: +33% YoY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9189720" y="2148840"/>
            <a:ext cx="2880360" cy="3108960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62872" y="2212848"/>
            <a:ext cx="7315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8" name="Text 56"/>
          <p:cNvSpPr/>
          <p:nvPr/>
        </p:nvSpPr>
        <p:spPr>
          <a:xfrm>
            <a:off x="9390888" y="22128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Nickel: 60% Indonesia/Russia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262872" y="2871216"/>
            <a:ext cx="73152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60" name="Text 58"/>
          <p:cNvSpPr/>
          <p:nvPr/>
        </p:nvSpPr>
        <p:spPr>
          <a:xfrm>
            <a:off x="9390888" y="2871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Graphite: 80% China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262872" y="3529584"/>
            <a:ext cx="7315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2" name="Text 60"/>
          <p:cNvSpPr/>
          <p:nvPr/>
        </p:nvSpPr>
        <p:spPr>
          <a:xfrm>
            <a:off x="9390888" y="35295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 2024 active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262872" y="4187952"/>
            <a:ext cx="73152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64" name="Text 62"/>
          <p:cNvSpPr/>
          <p:nvPr/>
        </p:nvSpPr>
        <p:spPr>
          <a:xfrm>
            <a:off x="9390888" y="41879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Cobalt: 80% via China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5349240"/>
            <a:ext cx="1161288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537667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Indonesia: World's largest nickel producer (67%+ global), but ironically imports 90% of battery cell tech from China.  Vietnam: 40% EV sales share 2025 (from ~0% in 2020), entire supply chain China-dependent — apparent diversification for India is a relabelling trap.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Contagion Watch Signals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556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CIIP Battery Intelligence Report v1.0 · June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CONTAGION WATCH — WEEKLY MONITORING FRAMEWORK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Signals That Trigger Before Prices Move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1188720" cy="84124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367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08760" y="1408176"/>
            <a:ext cx="10378440" cy="841248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14447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Nickel Quota Announcements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170078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67%+ global supply. Any export ban hits EV + stainless steel + aerospace simultaneously. Jakarta has done this before (2020 ore ban).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00200" y="2048256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ESDM ministry + ANTAM/Vale Indonesia production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368296"/>
            <a:ext cx="1188720" cy="84124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59689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08760" y="2368296"/>
            <a:ext cx="10378440" cy="841248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2404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MOFCOM/GACC Export Control Expansion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266090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 controls: graphite, LFP cathode, cell tech. Even delays cascade as supply disruptions across all China-dependent markets.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00200" y="3008376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MOFCOM and GACC licensing announcements weekly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328416"/>
            <a:ext cx="1188720" cy="8412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55701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08760" y="3328416"/>
            <a:ext cx="10378440" cy="841248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33649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J&amp;K Lithium Auction Results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00200" y="36210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5.9Mt reserves. First auction failed — no qualified bids. Successful auction = structural CIIP de-risking event.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00200" y="3968496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MECL and Ministry of Mines auction notices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4288536"/>
            <a:ext cx="1188720" cy="8412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5171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08760" y="4288536"/>
            <a:ext cx="10378440" cy="841248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4325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 vs LFP Chemistry Split in Indian EV Sales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0200" y="458114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shifts to LFP (nickel-free). India stays NMC. As India's 4% EV share rises to 15%+, nickel/cobalt demand surges with zero domestic refining.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00200" y="4928616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SIAM monthly EV sales data by battery chemistry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5248656"/>
            <a:ext cx="1188720" cy="8412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5477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08760" y="5248656"/>
            <a:ext cx="10378440" cy="841248"/>
          </a:xfrm>
          <a:prstGeom prst="rect">
            <a:avLst/>
          </a:prstGeom>
          <a:solidFill>
            <a:srgbClr val="F8F9FA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0200" y="52852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Adani Mundra Polysilicon Commissioning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00200" y="554126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MTPA project in Gujarat. India's only credible near-term upstream solar independence move. Commissioning reduces polysilicon CIIP from CRITICAL to HIGH.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600200" y="5888736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Adani Green quarterly reports + MNRE capacity data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rises over India every morning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negotiation.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029200" cy="0"/>
          </a:xfrm>
          <a:prstGeom prst="line">
            <a:avLst/>
          </a:prstGeom>
          <a:noFill/>
          <a:ln w="1905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lithium to store its energy still travels through one country's processing plants, on that country's terms, under that country's export control regime.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the problem this framework is built to measure.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822960"/>
            <a:ext cx="3520440" cy="502920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100584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03920" y="14996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score CRITICAL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177393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(Nickel 10.0, Lithium 8.8, Polysilicon 8.7)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03920" y="2176272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03920" y="26700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lithium refining capacity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294436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5.9Mt J&amp;K reserves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3920" y="3346704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$53B+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03920" y="38404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clean energy imports 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11480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$23B + Solar $30B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03920" y="4517136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03920" y="50109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actual chokepoint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5285232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mine — the refinery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5029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accelerates operational logic. It does not create it."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21792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V Sivaram Poduri  ·  India Supply Chain Signals  ·  indiasupplychainsignals.substack.com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India's Green Import Trap — CIIP Battery Intelligence</dc:title>
  <dc:subject>PptxGenJS Presentation</dc:subject>
  <dc:creator>Aditya V Sivaram Poduri</dc:creator>
  <cp:lastModifiedBy>Aditya V Sivaram Poduri</cp:lastModifiedBy>
  <cp:revision>1</cp:revision>
  <dcterms:created xsi:type="dcterms:W3CDTF">2026-06-04T17:26:58Z</dcterms:created>
  <dcterms:modified xsi:type="dcterms:W3CDTF">2026-06-04T17:26:58Z</dcterms:modified>
</cp:coreProperties>
</file>